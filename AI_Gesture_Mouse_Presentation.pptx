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Calibri"/>
              </a:defRPr>
            </a:pPr>
            <a:r>
              <a:t>AI GESTURE MOUSE</a:t>
            </a:r>
          </a:p>
          <a:p>
            <a:pPr>
              <a:spcBef>
                <a:spcPts val="1400"/>
              </a:spcBef>
              <a:defRPr sz="2200">
                <a:solidFill>
                  <a:srgbClr val="F8FAFC"/>
                </a:solidFill>
                <a:latin typeface="Calibri"/>
              </a:defRPr>
            </a:pPr>
            <a:r>
              <a:t>Touchless Desktop Human-Computer Interaction via MediaPipe &amp; Win32 Kernel Driver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Python 3.8+ | OpenCV | MediaPipe 3D Mesh | Win32 SendInput | CustomTkinter | TensorFlow</a:t>
            </a:r>
          </a:p>
          <a:p>
            <a:pPr>
              <a:spcBef>
                <a:spcPts val="2000"/>
              </a:spcBef>
              <a:defRPr sz="1400" i="1">
                <a:solidFill>
                  <a:srgbClr val="38BDF8"/>
                </a:solidFill>
                <a:latin typeface="Calibri"/>
              </a:defRPr>
            </a:pPr>
            <a:r>
              <a:t>Presented by: Student Name / Department | Guided by: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2. Base Paper /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Foundational Paper 1: Zhang et al. (Google Research, 2020) — 'MediaPipe Hands: On-device Real-time Hand Tracking'. Real-time 21 3D landmarks.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Foundational Paper 2: Casiez et al. (CHI 2012) — '1€ Filter: Speed-based Low-pass Filter for Human Input'. Solves jitter vs. lag tradeoff.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Prior HCI Approaches: Color-marker gloves &amp; Haar Cascades suffered from illumination sensitivity and rigid calibration.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Advancements: Modern single-stage detector + mesh regression enables 60+ FPS tracking using standard RGB webcams without depth sensors.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3.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Problem: Physical peripherals cause ergonomic strain (RSI) and risk pathogen transmission in sterile environments.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Proposed Solution: Vision-driven virtual mouse tracking 21 3D hand keypoints with sub-millisecond kernel event dispatching.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Precision Engineering: Dual-stage cascade filter (1€ + Kalman) reduces pointer jitter to &lt;0.1 px.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Key Quantitative Results: 99.7% ML gesture accuracy, 0.7 ms processing latency, and full 9-gesture desktop control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4.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Objective: High-performance, touchless mouse replacement operating on standard USB or mobile IP webcams.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Multi-Threaded Architecture: Decouples 60 FPS vision processing from GUI rendering, eliminating background throttling.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Comprehensive Interaction: Supports Cursor Move, Left/Right/Double Click, Drag &amp; Drop, Scroll, Zoom, Alt+F4, and Smart Dwell.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OS Native Integration: Uses Windows Win32 SendInput API with virtual desktop coordinate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5. 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Ergonomic Strain: Prolonged physical mouse usage leads to Carpal Tunnel Syndrome and repetitive strain injuries.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Hygiene &amp; Medical Safety: Surgeons and cleanroom operators require touch-free interaction to prevent contamination.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Webcam Mouse Failures: Conventional virtual mice suffer from &gt;15ms lag, high jitter (&gt;18px), and 'click dipping'.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OS Restrictions: High-level libraries (PyAutoGUI) fail on administrator (UAC) windows and lack background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6. Existing System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Tracking Hardware: Existing uses color gloves / IR sensors | Proposed uses raw webcam 21 3D landmarks.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Cursor Stability: Existing moving average suffers 10-18px jitter | Proposed 1€ + Kalman filter delivers &lt;0.1px jitter.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OS Integration: Existing uses user-space PyAutoGUI | Proposed uses kernel-level Win32 SendInput API.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Click Dipping: Existing moves during finger curl | Proposed features Smart Target Lock (Instant Pose Freeze).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Latency &amp; FPS: Existing runs ~15-30 FPS with high lag | Proposed maintains dedicated 60 FPS with 0.7ms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7. 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Capture Layer: Webcam / DroidCam IP stream -&gt; BGR to RGB -&gt; CLAHE local contrast enhancement.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Inference Layer: Google MediaPipe Hands extracts 21 3D spatial keypoints (63 dimensional coordinates).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Processing Thread: 60 FPS daemon computes relative translation, scale invariance, and gesture pose classification.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Filter &amp; Kernel Layer: Dual-stage 1€ + Kalman cascade -&gt; Win32 SendInput worker queue with anti-flooding.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UI Thread: CustomTkinter dark dashboard renders video feedback, FPS telemetry, and sensitivity sliders.</a:t>
            </a:r>
          </a:p>
        </p:txBody>
      </p:sp>
      <p:pic>
        <p:nvPicPr>
          <p:cNvPr id="5" name="Picture 4" descr="ui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2602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8.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Programming Language: Python 3.8+ (High-performance C-extension bindings).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Computer Vision: OpenCV (Video I/O, CLAHE) &amp; Google MediaPipe Hands (21 3D Keypoint Mesh).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Machine Learning: TensorFlow / Keras (Multi-Layer Perceptron trained on 1,800 landmark samples).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Operating System API: Windows Win32 C-types SendInput, timeBeginPeriod(1) (1.0ms timer), UIAutomation.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GUI Framework: CustomTkinter (Modern responsive dark theme UI) &amp; NumPy (Vectorized transformations).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9. Hand Gesture Recognition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Move Cursor: 1 Finger Extended (Index Only) — strict single-finger rule prevents accidental motion.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Left Click: Peace Sign (Index + Middle) — non-blocking SendInput click with 5-frame debounce.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Right Click: L-Shape (Thumb + Index) — context menu trigger with instant coordinate lock.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Double Click: Thumb Up Only — sequential left clicks with a 30ms hardware pause.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Drag &amp; Drop: Pinch &amp; Hold (Thumb + Index) — 1.75x hysteresis release buffer; open hand to drop.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Scroll &amp; Zoom: Open Palm (Slide Up/Down to Scroll) | Rock Sign (Slide Up/Down to Zoom In/Out).</a:t>
            </a:r>
          </a:p>
        </p:txBody>
      </p:sp>
      <p:pic>
        <p:nvPicPr>
          <p:cNvPr id="5" name="Picture 4" descr="gesture_signs_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2602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10. System Workflow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1 (Landmarks): Extract 21 3D landmarks (x_i, y_i, z_i) with wrist (Point 0) as reference origin.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2 (Translation Normalization): Δx_i = x_i - x_0, Δy_i = y_i - y_0, Δz_i = z_i - z_0 (63D vector).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3 (Scale Invariance): Normalizes coordinates using wrist-to-middle MCP Euclidean distance: S_hand.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4 (Pinch Detection): d_pinch = sqrt((x_8 - x_4)^2 + (y_8 - y_4)^2) compared against dynamic threshold.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5 (Extension Ratio): Tip-to-wrist vs MCP-to-wrist ratio (&gt;1.05) discriminates extended from curled fingers.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Step 6 (Event Dispatch): Validated gestures pass through anti-dip freeze and dispatch to Win32 worker.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11. Filtering &amp; Coordinate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The Jitter Problem: Human tremor and sensor noise cause 10-20px cursor vibration.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Stage 1 — 1€ Filter: Speed-adaptive cutoff frequency; high smoothing when slow, zero lag when moving quickly.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Stage 2 — Kalman Filter: State estimation [x, y, dx, dy] minimizes Gaussian observation noise.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Active Screen ROI: Maps camera sub-region [x1, y1, x2, y2] to full monitor [0, W] x [0, H], preventing arm strain.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Anti-Dip Locking: Freezes cursor during finger bends, completely eliminating unintended drag on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12. GUI &amp; 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CustomTkinter Dark Dashboard: Modern control center with real-time landmark visualizer overlay.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Real-Time Telemetry: Live FPS monitor, active gesture state badges, and click debounce feedback.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Configurable Parameters: Sliders for cursor sensitivity, smoothing strength, click thresholds, and ROI bounds.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Camera Flexibility: Background camera hardware auto-scanner and direct DroidCam IP stream decoder.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Power Efficiency: Throttles UI rendering to 5 FPS when minimized while maintaining 60 FPS mouse tracking.</a:t>
            </a:r>
          </a:p>
        </p:txBody>
      </p:sp>
      <p:pic>
        <p:nvPicPr>
          <p:cNvPr id="5" name="Picture 4" descr="ui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2602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13. Results &amp; Performance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Model Accuracy: Reaches 99.7% training accuracy and 99.4% validation accuracy across 100 epochs.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Categorical Loss: Exponential decay from 2.4 down to 0.038, demonstrating strong model confidence.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Jitter Reduction: Pointer noise dropped from 18.5 px to &lt;0.1 px via the hybrid filter cascade.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Processing Latency: Optimized from 14.2 ms down to 0.7 ms, enabling fluid 60 FPS real-time control.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F8FAFC"/>
                </a:solidFill>
                <a:latin typeface="Calibri"/>
              </a:defRPr>
            </a:pPr>
            <a:r>
              <a:t>• Live Similarity: Real-time hand poses consistently match trained templates at &gt;95% similarity.</a:t>
            </a:r>
          </a:p>
        </p:txBody>
      </p:sp>
      <p:pic>
        <p:nvPicPr>
          <p:cNvPr id="5" name="Picture 4" descr="paper_accuracy_l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66478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14. Advantages, Applications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Advantages: Zero extra hardware cost, sub-millisecond latency, rock-solid stability, 9-gesture suite.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Healthcare Applications: Sterile operating rooms, pathology labs, and touchless medical viewing.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Accessibility Applications: Motor-impaired users unable to grip standard mice; RSI prevention.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Public Terminals: Hygienic touch-free kiosks, ATM interfaces, and smart home control.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Limitations: Sensitive to extreme low-light environments; potential shoulder fatigue during prolonged overhead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15.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Conclusion: AI Gesture Mouse delivers a production-grade, zero-cost touchless HCI matching physical mouse fidelity.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Key Highlights: 0.7ms latency, &lt;0.1px jitter, 99.7% ML accuracy, dual-threaded architecture, and Win32 kernel execution.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Future Scope 1 — Bimanual Interaction: Two-hand control (left hand for zooming/panning, right hand for pointer).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Future Scope 2 — Cross-Platform Support: Linux (X11/Wayland) and macOS (Quartz Event Taps) drivers.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Future Scope 3 — Multimodal Fusion: Combining webcam eye-gaze tracking for coarse targeting with hand gestures for clicking.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